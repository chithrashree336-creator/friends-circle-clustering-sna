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A383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A383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A383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A383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6031" y="265137"/>
            <a:ext cx="11683365" cy="6332855"/>
          </a:xfrm>
          <a:custGeom>
            <a:avLst/>
            <a:gdLst/>
            <a:ahLst/>
            <a:cxnLst/>
            <a:rect l="l" t="t" r="r" b="b"/>
            <a:pathLst>
              <a:path w="11683365" h="6332855">
                <a:moveTo>
                  <a:pt x="11683111" y="0"/>
                </a:moveTo>
                <a:lnTo>
                  <a:pt x="0" y="0"/>
                </a:lnTo>
                <a:lnTo>
                  <a:pt x="0" y="6332474"/>
                </a:lnTo>
                <a:lnTo>
                  <a:pt x="11683111" y="6332474"/>
                </a:lnTo>
                <a:lnTo>
                  <a:pt x="1168311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4431" y="1196339"/>
            <a:ext cx="10983595" cy="0"/>
          </a:xfrm>
          <a:custGeom>
            <a:avLst/>
            <a:gdLst/>
            <a:ahLst/>
            <a:cxnLst/>
            <a:rect l="l" t="t" r="r" b="b"/>
            <a:pathLst>
              <a:path w="10983595">
                <a:moveTo>
                  <a:pt x="0" y="0"/>
                </a:moveTo>
                <a:lnTo>
                  <a:pt x="10983175" y="0"/>
                </a:lnTo>
              </a:path>
            </a:pathLst>
          </a:custGeom>
          <a:ln w="25400">
            <a:solidFill>
              <a:srgbClr val="D246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9948" y="594105"/>
            <a:ext cx="29381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A383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241" y="1388745"/>
            <a:ext cx="11285855" cy="4726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49" y="0"/>
            <a:ext cx="12198350" cy="6858000"/>
            <a:chOff x="-6349" y="0"/>
            <a:chExt cx="121983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60" y="916990"/>
              <a:ext cx="2312670" cy="10253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44831"/>
              <a:ext cx="7523987" cy="971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35634"/>
              <a:ext cx="7524115" cy="12700"/>
            </a:xfrm>
            <a:custGeom>
              <a:avLst/>
              <a:gdLst/>
              <a:ahLst/>
              <a:cxnLst/>
              <a:rect l="l" t="t" r="r" b="b"/>
              <a:pathLst>
                <a:path w="7524115" h="12700">
                  <a:moveTo>
                    <a:pt x="752398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7523988" y="12700"/>
                  </a:lnTo>
                  <a:lnTo>
                    <a:pt x="7523988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44830"/>
              <a:ext cx="7524115" cy="97155"/>
            </a:xfrm>
            <a:custGeom>
              <a:avLst/>
              <a:gdLst/>
              <a:ahLst/>
              <a:cxnLst/>
              <a:rect l="l" t="t" r="r" b="b"/>
              <a:pathLst>
                <a:path w="7524115" h="97154">
                  <a:moveTo>
                    <a:pt x="7523988" y="0"/>
                  </a:moveTo>
                  <a:lnTo>
                    <a:pt x="0" y="0"/>
                  </a:lnTo>
                  <a:lnTo>
                    <a:pt x="0" y="97155"/>
                  </a:lnTo>
                </a:path>
              </a:pathLst>
            </a:custGeom>
            <a:ln w="12698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69563" y="657225"/>
            <a:ext cx="46545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08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66"/>
                </a:solidFill>
                <a:latin typeface="Calibri"/>
                <a:cs typeface="Calibri"/>
              </a:rPr>
              <a:t>MOHAN</a:t>
            </a:r>
            <a:r>
              <a:rPr sz="2400" b="1" spc="-4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66"/>
                </a:solidFill>
                <a:latin typeface="Calibri"/>
                <a:cs typeface="Calibri"/>
              </a:rPr>
              <a:t>BABU</a:t>
            </a:r>
            <a:r>
              <a:rPr sz="2400" b="1" spc="-2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66"/>
                </a:solidFill>
                <a:latin typeface="Calibri"/>
                <a:cs typeface="Calibri"/>
              </a:rPr>
              <a:t>UNIVERSITY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Sree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Sainath</a:t>
            </a:r>
            <a:r>
              <a:rPr sz="2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Nagar,</a:t>
            </a:r>
            <a:r>
              <a:rPr sz="2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Tirupati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517102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3933" y="1388745"/>
            <a:ext cx="7499350" cy="191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611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DEPARTMENT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COMPUTER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Calibri"/>
              <a:cs typeface="Calibri"/>
            </a:endParaRPr>
          </a:p>
          <a:p>
            <a:pPr marL="1274445" marR="250825" indent="-1262380">
              <a:lnSpc>
                <a:spcPct val="100000"/>
              </a:lnSpc>
            </a:pPr>
            <a:r>
              <a:rPr sz="2400" b="1" dirty="0">
                <a:latin typeface="Segoe UI"/>
                <a:cs typeface="Segoe UI"/>
              </a:rPr>
              <a:t>Friends</a:t>
            </a:r>
            <a:r>
              <a:rPr sz="2400" b="1" spc="-8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Circle</a:t>
            </a:r>
            <a:r>
              <a:rPr sz="2400" b="1" spc="-7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Clustering</a:t>
            </a:r>
            <a:r>
              <a:rPr sz="2400" b="1" spc="-7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in</a:t>
            </a:r>
            <a:r>
              <a:rPr sz="2400" b="1" spc="-7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Online</a:t>
            </a:r>
            <a:r>
              <a:rPr sz="2400" b="1" spc="-7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Social</a:t>
            </a:r>
            <a:r>
              <a:rPr sz="2400" b="1" spc="-75" dirty="0">
                <a:latin typeface="Segoe UI"/>
                <a:cs typeface="Segoe UI"/>
              </a:rPr>
              <a:t> </a:t>
            </a:r>
            <a:r>
              <a:rPr sz="2400" b="1" spc="-10" dirty="0">
                <a:latin typeface="Segoe UI"/>
                <a:cs typeface="Segoe UI"/>
              </a:rPr>
              <a:t>Networks </a:t>
            </a:r>
            <a:r>
              <a:rPr sz="2400" b="1" dirty="0">
                <a:latin typeface="Segoe UI"/>
                <a:cs typeface="Segoe UI"/>
              </a:rPr>
              <a:t>Using</a:t>
            </a:r>
            <a:r>
              <a:rPr sz="2400" b="1" spc="-10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Social</a:t>
            </a:r>
            <a:r>
              <a:rPr sz="2400" b="1" spc="-8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Network</a:t>
            </a:r>
            <a:r>
              <a:rPr sz="2400" b="1" spc="-95" dirty="0">
                <a:latin typeface="Segoe UI"/>
                <a:cs typeface="Segoe UI"/>
              </a:rPr>
              <a:t> </a:t>
            </a:r>
            <a:r>
              <a:rPr sz="2400" b="1" spc="-10" dirty="0">
                <a:latin typeface="Segoe UI"/>
                <a:cs typeface="Segoe UI"/>
              </a:rPr>
              <a:t>Analysis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7803" y="4106671"/>
            <a:ext cx="5153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Segoe UI"/>
                <a:cs typeface="Segoe UI"/>
              </a:rPr>
              <a:t>PROJECT</a:t>
            </a:r>
            <a:r>
              <a:rPr sz="1800" b="1" spc="-9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SUPERVISER:</a:t>
            </a:r>
            <a:r>
              <a:rPr sz="1800" b="1" spc="-65" dirty="0">
                <a:latin typeface="Segoe UI"/>
                <a:cs typeface="Segoe UI"/>
              </a:rPr>
              <a:t> </a:t>
            </a:r>
            <a:r>
              <a:rPr sz="1800" b="1" spc="-20" dirty="0">
                <a:latin typeface="Segoe UI"/>
                <a:cs typeface="Segoe UI"/>
              </a:rPr>
              <a:t>Dr.</a:t>
            </a:r>
            <a:r>
              <a:rPr sz="1800" b="1" spc="-8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Aaquib</a:t>
            </a:r>
            <a:r>
              <a:rPr sz="1800" b="1" spc="-7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HussainGanai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1000" y="3832352"/>
            <a:ext cx="27800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Segoe UI"/>
                <a:cs typeface="Segoe UI"/>
              </a:rPr>
              <a:t>ROLL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NO:</a:t>
            </a:r>
            <a:r>
              <a:rPr sz="1800" b="1" spc="459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23102C010222</a:t>
            </a:r>
            <a:endParaRPr sz="1800">
              <a:latin typeface="Segoe UI"/>
              <a:cs typeface="Segoe UI"/>
            </a:endParaRPr>
          </a:p>
          <a:p>
            <a:pPr marL="1181100">
              <a:lnSpc>
                <a:spcPct val="100000"/>
              </a:lnSpc>
            </a:pPr>
            <a:r>
              <a:rPr sz="1800" b="1" spc="-10" dirty="0">
                <a:latin typeface="Segoe UI"/>
                <a:cs typeface="Segoe UI"/>
              </a:rPr>
              <a:t>23102C010245</a:t>
            </a:r>
            <a:endParaRPr sz="1800">
              <a:latin typeface="Segoe UI"/>
              <a:cs typeface="Segoe UI"/>
            </a:endParaRPr>
          </a:p>
          <a:p>
            <a:pPr marL="1155065">
              <a:lnSpc>
                <a:spcPct val="100000"/>
              </a:lnSpc>
            </a:pPr>
            <a:r>
              <a:rPr sz="1800" b="1" spc="-10" dirty="0">
                <a:latin typeface="Segoe UI"/>
                <a:cs typeface="Segoe UI"/>
              </a:rPr>
              <a:t>23102C010265</a:t>
            </a:r>
            <a:endParaRPr sz="1800">
              <a:latin typeface="Segoe UI"/>
              <a:cs typeface="Segoe UI"/>
            </a:endParaRPr>
          </a:p>
          <a:p>
            <a:pPr marL="1155065">
              <a:lnSpc>
                <a:spcPct val="100000"/>
              </a:lnSpc>
            </a:pPr>
            <a:r>
              <a:rPr sz="1800" b="1" spc="-10" dirty="0">
                <a:latin typeface="Segoe UI"/>
                <a:cs typeface="Segoe UI"/>
              </a:rPr>
              <a:t>23102C010304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1000" y="5204205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NAME: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3177" y="5204205"/>
            <a:ext cx="1941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S.Ananya M.Sindhu M.Devipraveena </a:t>
            </a:r>
            <a:r>
              <a:rPr sz="1800" b="1" dirty="0">
                <a:latin typeface="Segoe UI"/>
                <a:cs typeface="Segoe UI"/>
              </a:rPr>
              <a:t>N.C.Chithra</a:t>
            </a:r>
            <a:r>
              <a:rPr sz="1800" b="1" spc="-10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Shree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1522" y="5478576"/>
            <a:ext cx="47980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Segoe UI"/>
                <a:cs typeface="Segoe UI"/>
              </a:rPr>
              <a:t>BRANCH: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Bachelor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of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computer</a:t>
            </a:r>
            <a:r>
              <a:rPr sz="1800" b="1" spc="-2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applications</a:t>
            </a:r>
            <a:endParaRPr sz="1800">
              <a:latin typeface="Segoe UI"/>
              <a:cs typeface="Segoe UI"/>
            </a:endParaRPr>
          </a:p>
          <a:p>
            <a:pPr marL="1841500" marR="1130300" indent="-287020">
              <a:lnSpc>
                <a:spcPct val="100000"/>
              </a:lnSpc>
            </a:pPr>
            <a:r>
              <a:rPr sz="1800" b="1" spc="-25" dirty="0">
                <a:latin typeface="Segoe UI"/>
                <a:cs typeface="Segoe UI"/>
              </a:rPr>
              <a:t>BATCH</a:t>
            </a:r>
            <a:r>
              <a:rPr sz="1800" b="1" spc="-9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NUMBER:44 SECTION:(4,5)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369" y="1528806"/>
            <a:ext cx="9959975" cy="3887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854" marR="5080" indent="-224154" algn="just">
              <a:lnSpc>
                <a:spcPct val="1364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Online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networks</a:t>
            </a:r>
            <a:r>
              <a:rPr sz="1100" spc="2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generate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vast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amounts</a:t>
            </a:r>
            <a:r>
              <a:rPr sz="1100" spc="2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100" spc="2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interaction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data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100" spc="2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reflect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users’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relationships,</a:t>
            </a:r>
            <a:r>
              <a:rPr sz="1100" spc="2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interests,</a:t>
            </a:r>
            <a:r>
              <a:rPr sz="1100" spc="2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2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communication</a:t>
            </a:r>
            <a:r>
              <a:rPr sz="1100" spc="2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patterns.</a:t>
            </a:r>
            <a:r>
              <a:rPr sz="1100" spc="2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Identifying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meaningful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friend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circles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within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these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networks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essential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understanding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community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structures,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improving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recommendations,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enhancing</a:t>
            </a:r>
            <a:r>
              <a:rPr sz="1100" spc="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targeted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services.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100" spc="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study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presents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analysis–based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friends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circle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clustering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online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networks.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proposed</a:t>
            </a:r>
            <a:r>
              <a:rPr sz="1100" spc="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method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models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users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nodes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their</a:t>
            </a:r>
            <a:r>
              <a:rPr sz="1100" spc="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interactions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edges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construct</a:t>
            </a:r>
            <a:r>
              <a:rPr sz="1100" spc="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graph,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followed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by</a:t>
            </a:r>
            <a:r>
              <a:rPr sz="1100" spc="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application</a:t>
            </a:r>
            <a:r>
              <a:rPr sz="1100" spc="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100" spc="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community</a:t>
            </a:r>
            <a:r>
              <a:rPr sz="1100" spc="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detection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clustering</a:t>
            </a:r>
            <a:r>
              <a:rPr sz="1100" spc="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algorithms</a:t>
            </a:r>
            <a:r>
              <a:rPr sz="1100" spc="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to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identify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tightly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connected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groups.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Key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metrics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such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2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centrality,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density,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modularity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are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used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analyze</a:t>
            </a:r>
            <a:r>
              <a:rPr sz="1100" spc="2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2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strength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structure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of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relationships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within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each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cluster.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100" spc="2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helps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uncover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hidden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communities,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influential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users,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interaction</a:t>
            </a:r>
            <a:r>
              <a:rPr sz="1100" spc="2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patterns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characterize</a:t>
            </a:r>
            <a:r>
              <a:rPr sz="1100" spc="2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social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behavior.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Experimental</a:t>
            </a:r>
            <a:r>
              <a:rPr sz="1100" spc="2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evaluation</a:t>
            </a:r>
            <a:r>
              <a:rPr sz="1100" spc="2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representative</a:t>
            </a:r>
            <a:r>
              <a:rPr sz="1100" spc="2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2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datasets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demonstrates</a:t>
            </a:r>
            <a:r>
              <a:rPr sz="1100" spc="2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2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proposed</a:t>
            </a:r>
            <a:r>
              <a:rPr sz="1100" spc="2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clustering</a:t>
            </a:r>
            <a:r>
              <a:rPr sz="1100" spc="2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technique</a:t>
            </a:r>
            <a:r>
              <a:rPr sz="1100" spc="25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effectively</a:t>
            </a:r>
            <a:r>
              <a:rPr sz="1100" spc="2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detects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cohesive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friend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circles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improves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accuracy</a:t>
            </a:r>
            <a:r>
              <a:rPr sz="1100" spc="1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community</a:t>
            </a:r>
            <a:r>
              <a:rPr sz="1100" spc="114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identification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compared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1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traditional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methods.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findings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highlight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usefulness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of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organizing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large-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scale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data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supporting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applications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such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recommendation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systems,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information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diffusion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analysis,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personalized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content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delivery.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Online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networks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generate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massive</a:t>
            </a:r>
            <a:r>
              <a:rPr sz="1100" spc="2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volumes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user</a:t>
            </a:r>
            <a:r>
              <a:rPr sz="1100" spc="2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interaction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data,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reflecting</a:t>
            </a:r>
            <a:r>
              <a:rPr sz="1100" spc="2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relationships,</a:t>
            </a:r>
            <a:r>
              <a:rPr sz="1100" spc="229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communication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patterns,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shared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interests.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Identifying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meaningful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friend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circles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within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such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networks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challenging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task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due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complexity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scale</a:t>
            </a:r>
            <a:r>
              <a:rPr sz="1100" spc="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100" spc="8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data.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project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presents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</a:t>
            </a:r>
            <a:r>
              <a:rPr sz="1100" spc="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enhanced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100" spc="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friend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circle</a:t>
            </a:r>
            <a:r>
              <a:rPr sz="1100" spc="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clustering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using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(SNA)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technique.</a:t>
            </a:r>
            <a:r>
              <a:rPr sz="1100" spc="4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100" spc="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proposed</a:t>
            </a:r>
            <a:r>
              <a:rPr sz="1100" spc="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system,</a:t>
            </a:r>
            <a:r>
              <a:rPr sz="1100" spc="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users</a:t>
            </a:r>
            <a:r>
              <a:rPr sz="1100" spc="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are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represented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nodes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their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interactions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edges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construct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social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graph.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Advanced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community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detection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algorithms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such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Louvain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method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and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clustering</a:t>
            </a:r>
            <a:r>
              <a:rPr sz="1100" spc="9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techniques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like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K-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Means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are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applied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identify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closely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connected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groups.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Important</a:t>
            </a:r>
            <a:r>
              <a:rPr sz="1100" spc="1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10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metrics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including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degree</a:t>
            </a:r>
            <a:r>
              <a:rPr sz="1100" spc="9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centrality,</a:t>
            </a:r>
            <a:r>
              <a:rPr sz="1100" spc="1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betweenness 	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centrality,</a:t>
            </a:r>
            <a:r>
              <a:rPr sz="11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modularity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are</a:t>
            </a:r>
            <a:r>
              <a:rPr sz="11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utilized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analyze</a:t>
            </a:r>
            <a:r>
              <a:rPr sz="11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1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strength</a:t>
            </a:r>
            <a:r>
              <a:rPr sz="11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relationships</a:t>
            </a:r>
            <a:r>
              <a:rPr sz="11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detect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influential</a:t>
            </a:r>
            <a:r>
              <a:rPr sz="11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users</a:t>
            </a:r>
            <a:r>
              <a:rPr sz="11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within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each</a:t>
            </a:r>
            <a:r>
              <a:rPr sz="11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cluster.</a:t>
            </a:r>
            <a:endParaRPr sz="1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Clr>
                <a:srgbClr val="404040"/>
              </a:buClr>
              <a:buFont typeface="Arial MT"/>
              <a:buChar char="•"/>
            </a:pPr>
            <a:endParaRPr sz="11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100" b="1" dirty="0">
                <a:solidFill>
                  <a:srgbClr val="404040"/>
                </a:solidFill>
                <a:latin typeface="Segoe UI"/>
                <a:cs typeface="Segoe UI"/>
              </a:rPr>
              <a:t>Keywords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r>
              <a:rPr sz="11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Louvain</a:t>
            </a:r>
            <a:r>
              <a:rPr sz="11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Method,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K-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Means</a:t>
            </a:r>
            <a:r>
              <a:rPr sz="11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Clustering,</a:t>
            </a:r>
            <a:r>
              <a:rPr sz="11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Centrality</a:t>
            </a:r>
            <a:r>
              <a:rPr sz="11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Measures</a:t>
            </a:r>
            <a:r>
              <a:rPr sz="11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,Modularity,</a:t>
            </a:r>
            <a:r>
              <a:rPr sz="11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Network</a:t>
            </a:r>
            <a:r>
              <a:rPr sz="11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Analysis,</a:t>
            </a:r>
            <a:r>
              <a:rPr sz="11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04040"/>
                </a:solidFill>
                <a:latin typeface="Segoe UI"/>
                <a:cs typeface="Segoe UI"/>
              </a:rPr>
              <a:t>Graph</a:t>
            </a:r>
            <a:r>
              <a:rPr sz="11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Segoe UI"/>
                <a:cs typeface="Segoe UI"/>
              </a:rPr>
              <a:t>Theory.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605483"/>
            <a:ext cx="229108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"/>
                <a:cs typeface="Segoe UI"/>
              </a:rPr>
              <a:t>Introduction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"/>
                <a:cs typeface="Segoe UI"/>
              </a:rPr>
              <a:t>Review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Literature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"/>
                <a:cs typeface="Segoe UI"/>
              </a:rPr>
              <a:t>Proposed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System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"/>
                <a:cs typeface="Segoe UI"/>
              </a:rPr>
              <a:t>Execution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"/>
                <a:cs typeface="Segoe UI"/>
              </a:rPr>
              <a:t>Results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"/>
                <a:cs typeface="Segoe UI"/>
              </a:rPr>
              <a:t>conclusion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"/>
                <a:cs typeface="Segoe UI"/>
              </a:rPr>
              <a:t>References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559" y="1620723"/>
            <a:ext cx="1074293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"/>
                <a:cs typeface="Segoe UI"/>
              </a:rPr>
              <a:t>Online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Networks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(OSNs)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have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become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integral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part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modern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communication,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enabling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users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1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connect,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share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information,</a:t>
            </a:r>
            <a:r>
              <a:rPr sz="1800" spc="1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1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interact</a:t>
            </a:r>
            <a:r>
              <a:rPr sz="1800" spc="1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with</a:t>
            </a:r>
            <a:r>
              <a:rPr sz="1800" spc="1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others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across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globe.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Platforms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such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as</a:t>
            </a:r>
            <a:r>
              <a:rPr sz="1800" spc="1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Facebook, </a:t>
            </a:r>
            <a:r>
              <a:rPr sz="1800" dirty="0">
                <a:latin typeface="Segoe UI"/>
                <a:cs typeface="Segoe UI"/>
              </a:rPr>
              <a:t>Instagram, and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Twitter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generate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vast amounts of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data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through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user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activities like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friendships,</a:t>
            </a:r>
            <a:r>
              <a:rPr sz="1800" spc="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messages, </a:t>
            </a:r>
            <a:r>
              <a:rPr sz="1800" dirty="0">
                <a:latin typeface="Segoe UI"/>
                <a:cs typeface="Segoe UI"/>
              </a:rPr>
              <a:t>likes,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comments.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This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data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reflects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complex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relationships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interaction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patterns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among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users.</a:t>
            </a:r>
            <a:endParaRPr sz="1800">
              <a:latin typeface="Segoe UI"/>
              <a:cs typeface="Segoe UI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"/>
                <a:cs typeface="Segoe UI"/>
              </a:rPr>
              <a:t>Analyzing</a:t>
            </a:r>
            <a:r>
              <a:rPr sz="1800" spc="145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such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spc="-10" dirty="0">
                <a:latin typeface="Segoe UI"/>
                <a:cs typeface="Segoe UI"/>
              </a:rPr>
              <a:t>large-</a:t>
            </a:r>
            <a:r>
              <a:rPr sz="1800" dirty="0">
                <a:latin typeface="Segoe UI"/>
                <a:cs typeface="Segoe UI"/>
              </a:rPr>
              <a:t>scale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data</a:t>
            </a:r>
            <a:r>
              <a:rPr sz="1800" spc="145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165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essential</a:t>
            </a:r>
            <a:r>
              <a:rPr sz="1800" spc="145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understand</a:t>
            </a:r>
            <a:r>
              <a:rPr sz="1800" spc="140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how</a:t>
            </a:r>
            <a:r>
              <a:rPr sz="1800" spc="145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users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form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dirty="0">
                <a:latin typeface="Segoe UI"/>
                <a:cs typeface="Segoe UI"/>
              </a:rPr>
              <a:t>groups</a:t>
            </a:r>
            <a:r>
              <a:rPr sz="1800" spc="150" dirty="0">
                <a:latin typeface="Segoe UI"/>
                <a:cs typeface="Segoe UI"/>
              </a:rPr>
              <a:t>  </a:t>
            </a:r>
            <a:r>
              <a:rPr sz="1800" spc="-25" dirty="0">
                <a:latin typeface="Segoe UI"/>
                <a:cs typeface="Segoe UI"/>
              </a:rPr>
              <a:t>or </a:t>
            </a:r>
            <a:r>
              <a:rPr sz="1800" dirty="0">
                <a:latin typeface="Segoe UI"/>
                <a:cs typeface="Segoe UI"/>
              </a:rPr>
              <a:t>communities.</a:t>
            </a:r>
            <a:r>
              <a:rPr sz="1800" spc="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One</a:t>
            </a:r>
            <a:r>
              <a:rPr sz="1800" spc="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important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task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this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domain</a:t>
            </a:r>
            <a:r>
              <a:rPr sz="1800" spc="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friend</a:t>
            </a:r>
            <a:r>
              <a:rPr sz="1800" spc="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circle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clustering,</a:t>
            </a:r>
            <a:r>
              <a:rPr sz="1800" spc="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which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focuses</a:t>
            </a:r>
            <a:r>
              <a:rPr sz="1800" spc="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on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identifying </a:t>
            </a:r>
            <a:r>
              <a:rPr sz="1800" dirty="0">
                <a:latin typeface="Segoe UI"/>
                <a:cs typeface="Segoe UI"/>
              </a:rPr>
              <a:t>groups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users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who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closely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connected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share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similar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interests.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However,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due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increasing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size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complexity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networks,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detecting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meaningful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communities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becomes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challenging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problem.</a:t>
            </a:r>
            <a:endParaRPr sz="1800">
              <a:latin typeface="Segoe UI"/>
              <a:cs typeface="Segoe UI"/>
            </a:endParaRPr>
          </a:p>
          <a:p>
            <a:pPr marL="299085" marR="6350" indent="-287020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Network</a:t>
            </a:r>
            <a:r>
              <a:rPr sz="1800" spc="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Analysis</a:t>
            </a:r>
            <a:r>
              <a:rPr sz="1800" spc="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(SNA)</a:t>
            </a:r>
            <a:r>
              <a:rPr sz="1800" spc="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provides</a:t>
            </a:r>
            <a:r>
              <a:rPr sz="1800" spc="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effective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techniques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study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these</a:t>
            </a:r>
            <a:r>
              <a:rPr sz="1800" spc="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relationships</a:t>
            </a:r>
            <a:r>
              <a:rPr sz="1800" spc="5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by </a:t>
            </a:r>
            <a:r>
              <a:rPr sz="1800" dirty="0">
                <a:latin typeface="Segoe UI"/>
                <a:cs typeface="Segoe UI"/>
              </a:rPr>
              <a:t>representing</a:t>
            </a:r>
            <a:r>
              <a:rPr sz="1800" spc="3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users</a:t>
            </a:r>
            <a:r>
              <a:rPr sz="1800" spc="4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as</a:t>
            </a:r>
            <a:r>
              <a:rPr sz="1800" spc="3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nodes</a:t>
            </a:r>
            <a:r>
              <a:rPr sz="1800" spc="3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3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their</a:t>
            </a:r>
            <a:r>
              <a:rPr sz="1800" spc="3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interactions</a:t>
            </a:r>
            <a:r>
              <a:rPr sz="1800" spc="4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as</a:t>
            </a:r>
            <a:r>
              <a:rPr sz="1800" spc="4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edges</a:t>
            </a:r>
            <a:r>
              <a:rPr sz="1800" spc="4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3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3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graph.</a:t>
            </a:r>
            <a:r>
              <a:rPr sz="1800" spc="4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4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applying</a:t>
            </a:r>
            <a:r>
              <a:rPr sz="1800" spc="39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graph-based </a:t>
            </a:r>
            <a:r>
              <a:rPr sz="1800" dirty="0">
                <a:latin typeface="Segoe UI"/>
                <a:cs typeface="Segoe UI"/>
              </a:rPr>
              <a:t>methods</a:t>
            </a:r>
            <a:r>
              <a:rPr sz="1800" spc="2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2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clustering</a:t>
            </a:r>
            <a:r>
              <a:rPr sz="1800" spc="2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algorithms,</a:t>
            </a:r>
            <a:r>
              <a:rPr sz="1800" spc="2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it</a:t>
            </a:r>
            <a:r>
              <a:rPr sz="1800" spc="2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2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possible</a:t>
            </a:r>
            <a:r>
              <a:rPr sz="1800" spc="2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2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uncover</a:t>
            </a:r>
            <a:r>
              <a:rPr sz="1800" spc="2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hidden</a:t>
            </a:r>
            <a:r>
              <a:rPr sz="1800" spc="2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communities,</a:t>
            </a:r>
            <a:r>
              <a:rPr sz="1800" spc="2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identify</a:t>
            </a:r>
            <a:r>
              <a:rPr sz="1800" spc="2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influential </a:t>
            </a:r>
            <a:r>
              <a:rPr sz="1800" dirty="0">
                <a:latin typeface="Segoe UI"/>
                <a:cs typeface="Segoe UI"/>
              </a:rPr>
              <a:t>users,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analyze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behavior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patterns.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9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Literature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7265" rIns="0" bIns="0" rtlCol="0">
            <a:spAutoFit/>
          </a:bodyPr>
          <a:lstStyle/>
          <a:p>
            <a:pPr marL="355600" marR="62865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/>
              <a:t>M.</a:t>
            </a:r>
            <a:r>
              <a:rPr sz="1800" spc="-55" dirty="0"/>
              <a:t> </a:t>
            </a:r>
            <a:r>
              <a:rPr sz="1800" dirty="0"/>
              <a:t>E.</a:t>
            </a:r>
            <a:r>
              <a:rPr sz="1800" spc="-40" dirty="0"/>
              <a:t> </a:t>
            </a:r>
            <a:r>
              <a:rPr sz="1800" dirty="0"/>
              <a:t>J.</a:t>
            </a:r>
            <a:r>
              <a:rPr sz="1800" spc="-55" dirty="0"/>
              <a:t> </a:t>
            </a:r>
            <a:r>
              <a:rPr sz="1800" dirty="0"/>
              <a:t>Newman</a:t>
            </a:r>
            <a:r>
              <a:rPr sz="1800" spc="-30" dirty="0"/>
              <a:t> </a:t>
            </a:r>
            <a:r>
              <a:rPr sz="1800" dirty="0"/>
              <a:t>(2006)</a:t>
            </a:r>
            <a:r>
              <a:rPr sz="1800" spc="-30" dirty="0"/>
              <a:t> </a:t>
            </a:r>
            <a:r>
              <a:rPr sz="1800" dirty="0"/>
              <a:t>introduced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50" dirty="0"/>
              <a:t> </a:t>
            </a:r>
            <a:r>
              <a:rPr sz="1800" dirty="0"/>
              <a:t>concept</a:t>
            </a:r>
            <a:r>
              <a:rPr sz="1800" spc="-25" dirty="0"/>
              <a:t> </a:t>
            </a:r>
            <a:r>
              <a:rPr sz="1800" dirty="0"/>
              <a:t>of</a:t>
            </a:r>
            <a:r>
              <a:rPr sz="1800" spc="-45" dirty="0"/>
              <a:t> </a:t>
            </a:r>
            <a:r>
              <a:rPr sz="1800" spc="-10" dirty="0"/>
              <a:t>modularity,</a:t>
            </a:r>
            <a:r>
              <a:rPr sz="1800" spc="-40" dirty="0"/>
              <a:t> </a:t>
            </a:r>
            <a:r>
              <a:rPr sz="1800" dirty="0"/>
              <a:t>which</a:t>
            </a:r>
            <a:r>
              <a:rPr sz="1800" spc="-35" dirty="0"/>
              <a:t> </a:t>
            </a:r>
            <a:r>
              <a:rPr sz="1800" dirty="0"/>
              <a:t>is</a:t>
            </a:r>
            <a:r>
              <a:rPr sz="1800" spc="-35" dirty="0"/>
              <a:t> </a:t>
            </a:r>
            <a:r>
              <a:rPr sz="1800" dirty="0"/>
              <a:t>widely</a:t>
            </a:r>
            <a:r>
              <a:rPr sz="1800" spc="-20" dirty="0"/>
              <a:t> </a:t>
            </a:r>
            <a:r>
              <a:rPr sz="1800" dirty="0"/>
              <a:t>used</a:t>
            </a:r>
            <a:r>
              <a:rPr sz="1800" spc="-50" dirty="0"/>
              <a:t> </a:t>
            </a:r>
            <a:r>
              <a:rPr sz="1800" dirty="0"/>
              <a:t>to</a:t>
            </a:r>
            <a:r>
              <a:rPr sz="1800" spc="-45" dirty="0"/>
              <a:t> </a:t>
            </a:r>
            <a:r>
              <a:rPr sz="1800" dirty="0"/>
              <a:t>measure</a:t>
            </a:r>
            <a:r>
              <a:rPr sz="1800" spc="-50" dirty="0"/>
              <a:t> </a:t>
            </a:r>
            <a:r>
              <a:rPr sz="1800" dirty="0"/>
              <a:t>the</a:t>
            </a:r>
            <a:r>
              <a:rPr sz="1800" spc="-35" dirty="0"/>
              <a:t> </a:t>
            </a:r>
            <a:r>
              <a:rPr sz="1800" dirty="0"/>
              <a:t>quality</a:t>
            </a:r>
            <a:r>
              <a:rPr sz="1800" spc="-30" dirty="0"/>
              <a:t> </a:t>
            </a:r>
            <a:r>
              <a:rPr sz="1800" spc="-25" dirty="0"/>
              <a:t>of </a:t>
            </a:r>
            <a:r>
              <a:rPr sz="1800" dirty="0"/>
              <a:t>community</a:t>
            </a:r>
            <a:r>
              <a:rPr sz="1800" spc="-45" dirty="0"/>
              <a:t> </a:t>
            </a:r>
            <a:r>
              <a:rPr sz="1800" dirty="0"/>
              <a:t>structures</a:t>
            </a:r>
            <a:r>
              <a:rPr sz="1800" spc="-40" dirty="0"/>
              <a:t> </a:t>
            </a:r>
            <a:r>
              <a:rPr sz="1800" dirty="0"/>
              <a:t>in</a:t>
            </a:r>
            <a:r>
              <a:rPr sz="1800" spc="-30" dirty="0"/>
              <a:t> </a:t>
            </a:r>
            <a:r>
              <a:rPr sz="1800" spc="-10" dirty="0"/>
              <a:t>networks.</a:t>
            </a:r>
            <a:r>
              <a:rPr sz="1800" spc="-65" dirty="0"/>
              <a:t> </a:t>
            </a:r>
            <a:r>
              <a:rPr sz="1800" dirty="0"/>
              <a:t>His</a:t>
            </a:r>
            <a:r>
              <a:rPr sz="1800" spc="-35" dirty="0"/>
              <a:t> </a:t>
            </a:r>
            <a:r>
              <a:rPr sz="1800" dirty="0"/>
              <a:t>work</a:t>
            </a:r>
            <a:r>
              <a:rPr sz="1800" spc="-45" dirty="0"/>
              <a:t> </a:t>
            </a:r>
            <a:r>
              <a:rPr sz="1800" dirty="0"/>
              <a:t>laid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50" dirty="0"/>
              <a:t> </a:t>
            </a:r>
            <a:r>
              <a:rPr sz="1800" dirty="0"/>
              <a:t>foundation</a:t>
            </a:r>
            <a:r>
              <a:rPr sz="1800" spc="-55" dirty="0"/>
              <a:t> </a:t>
            </a:r>
            <a:r>
              <a:rPr sz="1800" dirty="0"/>
              <a:t>for</a:t>
            </a:r>
            <a:r>
              <a:rPr sz="1800" spc="-45" dirty="0"/>
              <a:t> </a:t>
            </a:r>
            <a:r>
              <a:rPr sz="1800" dirty="0"/>
              <a:t>evaluating</a:t>
            </a:r>
            <a:r>
              <a:rPr sz="1800" spc="-40" dirty="0"/>
              <a:t> </a:t>
            </a:r>
            <a:r>
              <a:rPr sz="1800" dirty="0"/>
              <a:t>clustering</a:t>
            </a:r>
            <a:r>
              <a:rPr sz="1800" spc="-30" dirty="0"/>
              <a:t> </a:t>
            </a:r>
            <a:r>
              <a:rPr sz="1800" dirty="0"/>
              <a:t>performance</a:t>
            </a:r>
            <a:r>
              <a:rPr sz="1800" spc="-50" dirty="0"/>
              <a:t> </a:t>
            </a:r>
            <a:r>
              <a:rPr sz="1800" spc="-25" dirty="0"/>
              <a:t>in </a:t>
            </a:r>
            <a:r>
              <a:rPr sz="1800" dirty="0"/>
              <a:t>social</a:t>
            </a:r>
            <a:r>
              <a:rPr sz="1800" spc="-25" dirty="0"/>
              <a:t> </a:t>
            </a:r>
            <a:r>
              <a:rPr sz="1800" spc="-10" dirty="0"/>
              <a:t>graphs.</a:t>
            </a:r>
            <a:endParaRPr sz="1800"/>
          </a:p>
          <a:p>
            <a:pPr marL="355600" marR="109855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1800" dirty="0"/>
              <a:t>Blondel</a:t>
            </a:r>
            <a:r>
              <a:rPr sz="1800" spc="-20" dirty="0"/>
              <a:t> </a:t>
            </a:r>
            <a:r>
              <a:rPr sz="1800" dirty="0"/>
              <a:t>et</a:t>
            </a:r>
            <a:r>
              <a:rPr sz="1800" spc="-40" dirty="0"/>
              <a:t> </a:t>
            </a:r>
            <a:r>
              <a:rPr sz="1800" dirty="0"/>
              <a:t>al.</a:t>
            </a:r>
            <a:r>
              <a:rPr sz="1800" spc="-25" dirty="0"/>
              <a:t> </a:t>
            </a:r>
            <a:r>
              <a:rPr sz="1800" dirty="0"/>
              <a:t>(2008)</a:t>
            </a:r>
            <a:r>
              <a:rPr sz="1800" spc="-25" dirty="0"/>
              <a:t> </a:t>
            </a:r>
            <a:r>
              <a:rPr sz="1800" dirty="0"/>
              <a:t>proposed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45" dirty="0"/>
              <a:t> </a:t>
            </a:r>
            <a:r>
              <a:rPr sz="1800" dirty="0"/>
              <a:t>Louvain</a:t>
            </a:r>
            <a:r>
              <a:rPr sz="1800" spc="-40" dirty="0"/>
              <a:t> </a:t>
            </a:r>
            <a:r>
              <a:rPr sz="1800" dirty="0"/>
              <a:t>algorithm,</a:t>
            </a:r>
            <a:r>
              <a:rPr sz="1800" spc="-35" dirty="0"/>
              <a:t> </a:t>
            </a:r>
            <a:r>
              <a:rPr sz="1800" dirty="0"/>
              <a:t>a</a:t>
            </a:r>
            <a:r>
              <a:rPr sz="1800" spc="-30" dirty="0"/>
              <a:t> </a:t>
            </a:r>
            <a:r>
              <a:rPr sz="1800" dirty="0"/>
              <a:t>fast</a:t>
            </a:r>
            <a:r>
              <a:rPr sz="1800" spc="-40" dirty="0"/>
              <a:t> </a:t>
            </a:r>
            <a:r>
              <a:rPr sz="1800" dirty="0"/>
              <a:t>and</a:t>
            </a:r>
            <a:r>
              <a:rPr sz="1800" spc="-35" dirty="0"/>
              <a:t> </a:t>
            </a:r>
            <a:r>
              <a:rPr sz="1800" dirty="0"/>
              <a:t>efficient</a:t>
            </a:r>
            <a:r>
              <a:rPr sz="1800" spc="-25" dirty="0"/>
              <a:t> </a:t>
            </a:r>
            <a:r>
              <a:rPr sz="1800" dirty="0"/>
              <a:t>method</a:t>
            </a:r>
            <a:r>
              <a:rPr sz="1800" spc="-25" dirty="0"/>
              <a:t> </a:t>
            </a:r>
            <a:r>
              <a:rPr sz="1800" dirty="0"/>
              <a:t>for</a:t>
            </a:r>
            <a:r>
              <a:rPr sz="1800" spc="-35" dirty="0"/>
              <a:t> </a:t>
            </a:r>
            <a:r>
              <a:rPr sz="1800" dirty="0"/>
              <a:t>detecting</a:t>
            </a:r>
            <a:r>
              <a:rPr sz="1800" spc="-20" dirty="0"/>
              <a:t> </a:t>
            </a:r>
            <a:r>
              <a:rPr sz="1800" spc="-10" dirty="0"/>
              <a:t>communities </a:t>
            </a:r>
            <a:r>
              <a:rPr sz="1800" dirty="0"/>
              <a:t>in</a:t>
            </a:r>
            <a:r>
              <a:rPr sz="1800" spc="-55" dirty="0"/>
              <a:t> </a:t>
            </a:r>
            <a:r>
              <a:rPr sz="1800" spc="-10" dirty="0"/>
              <a:t>large-</a:t>
            </a:r>
            <a:r>
              <a:rPr sz="1800" dirty="0"/>
              <a:t>scale</a:t>
            </a:r>
            <a:r>
              <a:rPr sz="1800" spc="-5" dirty="0"/>
              <a:t> </a:t>
            </a:r>
            <a:r>
              <a:rPr sz="1800" dirty="0"/>
              <a:t>networks.</a:t>
            </a:r>
            <a:r>
              <a:rPr sz="1800" spc="-65" dirty="0"/>
              <a:t> </a:t>
            </a:r>
            <a:r>
              <a:rPr sz="1800" dirty="0"/>
              <a:t>It</a:t>
            </a:r>
            <a:r>
              <a:rPr sz="1800" spc="-45" dirty="0"/>
              <a:t> </a:t>
            </a:r>
            <a:r>
              <a:rPr sz="1800" dirty="0"/>
              <a:t>is</a:t>
            </a:r>
            <a:r>
              <a:rPr sz="1800" spc="-35" dirty="0"/>
              <a:t> </a:t>
            </a:r>
            <a:r>
              <a:rPr sz="1800" dirty="0"/>
              <a:t>widely</a:t>
            </a:r>
            <a:r>
              <a:rPr sz="1800" spc="-15" dirty="0"/>
              <a:t> </a:t>
            </a:r>
            <a:r>
              <a:rPr sz="1800" dirty="0"/>
              <a:t>used</a:t>
            </a:r>
            <a:r>
              <a:rPr sz="1800" spc="-50" dirty="0"/>
              <a:t> </a:t>
            </a:r>
            <a:r>
              <a:rPr sz="1800" dirty="0"/>
              <a:t>due</a:t>
            </a:r>
            <a:r>
              <a:rPr sz="1800" spc="-55" dirty="0"/>
              <a:t> </a:t>
            </a:r>
            <a:r>
              <a:rPr sz="1800" dirty="0"/>
              <a:t>to</a:t>
            </a:r>
            <a:r>
              <a:rPr sz="1800" spc="-45" dirty="0"/>
              <a:t> </a:t>
            </a:r>
            <a:r>
              <a:rPr sz="1800" dirty="0"/>
              <a:t>its</a:t>
            </a:r>
            <a:r>
              <a:rPr sz="1800" spc="-40" dirty="0"/>
              <a:t> </a:t>
            </a:r>
            <a:r>
              <a:rPr sz="1800" dirty="0"/>
              <a:t>high</a:t>
            </a:r>
            <a:r>
              <a:rPr sz="1800" spc="-50" dirty="0"/>
              <a:t> </a:t>
            </a:r>
            <a:r>
              <a:rPr sz="1800" dirty="0"/>
              <a:t>scalability</a:t>
            </a:r>
            <a:r>
              <a:rPr sz="1800" spc="5" dirty="0"/>
              <a:t> </a:t>
            </a:r>
            <a:r>
              <a:rPr sz="1800" dirty="0"/>
              <a:t>and</a:t>
            </a:r>
            <a:r>
              <a:rPr sz="1800" spc="-55" dirty="0"/>
              <a:t> </a:t>
            </a:r>
            <a:r>
              <a:rPr sz="1800" dirty="0"/>
              <a:t>ability</a:t>
            </a:r>
            <a:r>
              <a:rPr sz="1800" spc="-10" dirty="0"/>
              <a:t> </a:t>
            </a:r>
            <a:r>
              <a:rPr sz="1800" dirty="0"/>
              <a:t>to</a:t>
            </a:r>
            <a:r>
              <a:rPr sz="1800" spc="-45" dirty="0"/>
              <a:t> </a:t>
            </a:r>
            <a:r>
              <a:rPr sz="1800" dirty="0"/>
              <a:t>maximize</a:t>
            </a:r>
            <a:r>
              <a:rPr sz="1800" spc="-35" dirty="0"/>
              <a:t> </a:t>
            </a:r>
            <a:r>
              <a:rPr sz="1800" spc="-10" dirty="0"/>
              <a:t>modularity.</a:t>
            </a:r>
            <a:endParaRPr sz="1800"/>
          </a:p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1800" dirty="0"/>
              <a:t>Girvan</a:t>
            </a:r>
            <a:r>
              <a:rPr sz="1800" spc="-40" dirty="0"/>
              <a:t> </a:t>
            </a:r>
            <a:r>
              <a:rPr sz="1800" dirty="0"/>
              <a:t>and</a:t>
            </a:r>
            <a:r>
              <a:rPr sz="1800" spc="-60" dirty="0"/>
              <a:t> </a:t>
            </a:r>
            <a:r>
              <a:rPr sz="1800" dirty="0"/>
              <a:t>Newman</a:t>
            </a:r>
            <a:r>
              <a:rPr sz="1800" spc="-35" dirty="0"/>
              <a:t> </a:t>
            </a:r>
            <a:r>
              <a:rPr sz="1800" dirty="0"/>
              <a:t>(2002)</a:t>
            </a:r>
            <a:r>
              <a:rPr sz="1800" spc="-35" dirty="0"/>
              <a:t> </a:t>
            </a:r>
            <a:r>
              <a:rPr sz="1800" dirty="0"/>
              <a:t>developed</a:t>
            </a:r>
            <a:r>
              <a:rPr sz="1800" spc="-35" dirty="0"/>
              <a:t> </a:t>
            </a:r>
            <a:r>
              <a:rPr sz="1800" dirty="0"/>
              <a:t>the</a:t>
            </a:r>
            <a:r>
              <a:rPr sz="1800" spc="-40" dirty="0"/>
              <a:t> </a:t>
            </a:r>
            <a:r>
              <a:rPr sz="1800" dirty="0"/>
              <a:t>Girvan–Newman</a:t>
            </a:r>
            <a:r>
              <a:rPr sz="1800" spc="-40" dirty="0"/>
              <a:t> </a:t>
            </a:r>
            <a:r>
              <a:rPr sz="1800" dirty="0"/>
              <a:t>algorithm,</a:t>
            </a:r>
            <a:r>
              <a:rPr sz="1800" spc="-35" dirty="0"/>
              <a:t> </a:t>
            </a:r>
            <a:r>
              <a:rPr sz="1800" dirty="0"/>
              <a:t>which</a:t>
            </a:r>
            <a:r>
              <a:rPr sz="1800" spc="-40" dirty="0"/>
              <a:t> </a:t>
            </a:r>
            <a:r>
              <a:rPr sz="1800" dirty="0"/>
              <a:t>detects</a:t>
            </a:r>
            <a:r>
              <a:rPr sz="1800" spc="-45" dirty="0"/>
              <a:t> </a:t>
            </a:r>
            <a:r>
              <a:rPr sz="1800" dirty="0"/>
              <a:t>communities</a:t>
            </a:r>
            <a:r>
              <a:rPr sz="1800" spc="-45" dirty="0"/>
              <a:t> </a:t>
            </a:r>
            <a:r>
              <a:rPr sz="1800" spc="-25" dirty="0"/>
              <a:t>by </a:t>
            </a:r>
            <a:r>
              <a:rPr sz="1800" spc="-10" dirty="0"/>
              <a:t>progressively</a:t>
            </a:r>
            <a:r>
              <a:rPr sz="1800" spc="-30" dirty="0"/>
              <a:t> </a:t>
            </a:r>
            <a:r>
              <a:rPr sz="1800" dirty="0"/>
              <a:t>removing</a:t>
            </a:r>
            <a:r>
              <a:rPr sz="1800" spc="-60" dirty="0"/>
              <a:t> </a:t>
            </a:r>
            <a:r>
              <a:rPr sz="1800" dirty="0"/>
              <a:t>edges</a:t>
            </a:r>
            <a:r>
              <a:rPr sz="1800" spc="-30" dirty="0"/>
              <a:t> </a:t>
            </a:r>
            <a:r>
              <a:rPr sz="1800" dirty="0"/>
              <a:t>with</a:t>
            </a:r>
            <a:r>
              <a:rPr sz="1800" spc="-40" dirty="0"/>
              <a:t> </a:t>
            </a:r>
            <a:r>
              <a:rPr sz="1800" dirty="0"/>
              <a:t>high</a:t>
            </a:r>
            <a:r>
              <a:rPr sz="1800" spc="-55" dirty="0"/>
              <a:t> </a:t>
            </a:r>
            <a:r>
              <a:rPr sz="1800" dirty="0"/>
              <a:t>betweenness</a:t>
            </a:r>
            <a:r>
              <a:rPr sz="1800" spc="-50" dirty="0"/>
              <a:t> </a:t>
            </a:r>
            <a:r>
              <a:rPr sz="1800" spc="-10" dirty="0"/>
              <a:t>centrality.</a:t>
            </a:r>
            <a:r>
              <a:rPr sz="1800" spc="-40" dirty="0"/>
              <a:t> </a:t>
            </a:r>
            <a:r>
              <a:rPr sz="1800" dirty="0"/>
              <a:t>This</a:t>
            </a:r>
            <a:r>
              <a:rPr sz="1800" spc="-60" dirty="0"/>
              <a:t> </a:t>
            </a:r>
            <a:r>
              <a:rPr sz="1800" dirty="0"/>
              <a:t>method</a:t>
            </a:r>
            <a:r>
              <a:rPr sz="1800" spc="-40" dirty="0"/>
              <a:t> </a:t>
            </a:r>
            <a:r>
              <a:rPr sz="1800" dirty="0"/>
              <a:t>is</a:t>
            </a:r>
            <a:r>
              <a:rPr sz="1800" spc="-55" dirty="0"/>
              <a:t> </a:t>
            </a:r>
            <a:r>
              <a:rPr sz="1800" dirty="0"/>
              <a:t>effective</a:t>
            </a:r>
            <a:r>
              <a:rPr sz="1800" spc="-40" dirty="0"/>
              <a:t> </a:t>
            </a:r>
            <a:r>
              <a:rPr sz="1800" dirty="0"/>
              <a:t>but</a:t>
            </a:r>
            <a:r>
              <a:rPr sz="1800" spc="-35" dirty="0"/>
              <a:t> </a:t>
            </a:r>
            <a:r>
              <a:rPr sz="1800" spc="-10" dirty="0"/>
              <a:t>computationally </a:t>
            </a:r>
            <a:r>
              <a:rPr sz="1800" dirty="0"/>
              <a:t>expensive</a:t>
            </a:r>
            <a:r>
              <a:rPr sz="1800" spc="-45" dirty="0"/>
              <a:t> </a:t>
            </a:r>
            <a:r>
              <a:rPr sz="1800" dirty="0"/>
              <a:t>for</a:t>
            </a:r>
            <a:r>
              <a:rPr sz="1800" spc="-45" dirty="0"/>
              <a:t> </a:t>
            </a:r>
            <a:r>
              <a:rPr sz="1800" dirty="0"/>
              <a:t>large</a:t>
            </a:r>
            <a:r>
              <a:rPr sz="1800" spc="-30" dirty="0"/>
              <a:t> </a:t>
            </a:r>
            <a:r>
              <a:rPr sz="1800" spc="-10" dirty="0"/>
              <a:t>networks.</a:t>
            </a:r>
            <a:endParaRPr sz="1800"/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1800" dirty="0"/>
              <a:t>U.</a:t>
            </a:r>
            <a:r>
              <a:rPr sz="1800" spc="-50" dirty="0"/>
              <a:t> </a:t>
            </a:r>
            <a:r>
              <a:rPr sz="1800" dirty="0"/>
              <a:t>N.</a:t>
            </a:r>
            <a:r>
              <a:rPr sz="1800" spc="-55" dirty="0"/>
              <a:t> </a:t>
            </a:r>
            <a:r>
              <a:rPr sz="1800" dirty="0"/>
              <a:t>Raghavan</a:t>
            </a:r>
            <a:r>
              <a:rPr sz="1800" spc="-50" dirty="0"/>
              <a:t> </a:t>
            </a:r>
            <a:r>
              <a:rPr sz="1800" dirty="0"/>
              <a:t>et</a:t>
            </a:r>
            <a:r>
              <a:rPr sz="1800" spc="-40" dirty="0"/>
              <a:t> </a:t>
            </a:r>
            <a:r>
              <a:rPr sz="1800" dirty="0"/>
              <a:t>al.</a:t>
            </a:r>
            <a:r>
              <a:rPr sz="1800" spc="-55" dirty="0"/>
              <a:t> </a:t>
            </a:r>
            <a:r>
              <a:rPr sz="1800" dirty="0"/>
              <a:t>(2007)</a:t>
            </a:r>
            <a:r>
              <a:rPr sz="1800" spc="-40" dirty="0"/>
              <a:t> </a:t>
            </a:r>
            <a:r>
              <a:rPr sz="1800" dirty="0"/>
              <a:t>introduced</a:t>
            </a:r>
            <a:r>
              <a:rPr sz="1800" spc="-45" dirty="0"/>
              <a:t> </a:t>
            </a:r>
            <a:r>
              <a:rPr sz="1800" dirty="0"/>
              <a:t>the</a:t>
            </a:r>
            <a:r>
              <a:rPr sz="1800" spc="-60" dirty="0"/>
              <a:t> </a:t>
            </a:r>
            <a:r>
              <a:rPr sz="1800" dirty="0"/>
              <a:t>Label</a:t>
            </a:r>
            <a:r>
              <a:rPr sz="1800" spc="-40" dirty="0"/>
              <a:t> </a:t>
            </a:r>
            <a:r>
              <a:rPr sz="1800" dirty="0"/>
              <a:t>Propagation</a:t>
            </a:r>
            <a:r>
              <a:rPr sz="1800" spc="-45" dirty="0"/>
              <a:t> </a:t>
            </a:r>
            <a:r>
              <a:rPr sz="1800" dirty="0"/>
              <a:t>Algorithm</a:t>
            </a:r>
            <a:r>
              <a:rPr sz="1800" spc="-40" dirty="0"/>
              <a:t> </a:t>
            </a:r>
            <a:r>
              <a:rPr sz="1800" spc="-20" dirty="0"/>
              <a:t>(LPA),</a:t>
            </a:r>
            <a:r>
              <a:rPr sz="1800" spc="-50" dirty="0"/>
              <a:t> </a:t>
            </a:r>
            <a:r>
              <a:rPr sz="1800" dirty="0"/>
              <a:t>which</a:t>
            </a:r>
            <a:r>
              <a:rPr sz="1800" spc="-40" dirty="0"/>
              <a:t> </a:t>
            </a:r>
            <a:r>
              <a:rPr sz="1800" dirty="0"/>
              <a:t>identifies</a:t>
            </a:r>
            <a:r>
              <a:rPr sz="1800" spc="-30" dirty="0"/>
              <a:t> </a:t>
            </a:r>
            <a:r>
              <a:rPr sz="1800" spc="-10" dirty="0"/>
              <a:t>communities</a:t>
            </a:r>
            <a:endParaRPr sz="1800"/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/>
              <a:t>based</a:t>
            </a:r>
            <a:r>
              <a:rPr sz="1800" spc="-45" dirty="0"/>
              <a:t> </a:t>
            </a:r>
            <a:r>
              <a:rPr sz="1800" dirty="0"/>
              <a:t>on</a:t>
            </a:r>
            <a:r>
              <a:rPr sz="1800" spc="-45" dirty="0"/>
              <a:t> </a:t>
            </a:r>
            <a:r>
              <a:rPr sz="1800" dirty="0"/>
              <a:t>node</a:t>
            </a:r>
            <a:r>
              <a:rPr sz="1800" spc="-50" dirty="0"/>
              <a:t> </a:t>
            </a:r>
            <a:r>
              <a:rPr sz="1800" dirty="0"/>
              <a:t>labeling</a:t>
            </a:r>
            <a:r>
              <a:rPr sz="1800" spc="-20" dirty="0"/>
              <a:t> </a:t>
            </a:r>
            <a:r>
              <a:rPr sz="1800" dirty="0"/>
              <a:t>and</a:t>
            </a:r>
            <a:r>
              <a:rPr sz="1800" spc="-50" dirty="0"/>
              <a:t> </a:t>
            </a:r>
            <a:r>
              <a:rPr sz="1800" dirty="0"/>
              <a:t>propagation.</a:t>
            </a:r>
            <a:r>
              <a:rPr sz="1800" spc="-25" dirty="0"/>
              <a:t> </a:t>
            </a:r>
            <a:r>
              <a:rPr sz="1800" dirty="0"/>
              <a:t>It</a:t>
            </a:r>
            <a:r>
              <a:rPr sz="1800" spc="-50" dirty="0"/>
              <a:t> </a:t>
            </a:r>
            <a:r>
              <a:rPr sz="1800" dirty="0"/>
              <a:t>is</a:t>
            </a:r>
            <a:r>
              <a:rPr sz="1800" spc="-35" dirty="0"/>
              <a:t> </a:t>
            </a:r>
            <a:r>
              <a:rPr sz="1800" dirty="0"/>
              <a:t>simple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55" dirty="0"/>
              <a:t> </a:t>
            </a:r>
            <a:r>
              <a:rPr sz="1800" dirty="0"/>
              <a:t>fast</a:t>
            </a:r>
            <a:r>
              <a:rPr sz="1800" spc="-30" dirty="0"/>
              <a:t> </a:t>
            </a:r>
            <a:r>
              <a:rPr sz="1800" dirty="0"/>
              <a:t>but</a:t>
            </a:r>
            <a:r>
              <a:rPr sz="1800" spc="-45" dirty="0"/>
              <a:t> </a:t>
            </a:r>
            <a:r>
              <a:rPr sz="1800" dirty="0"/>
              <a:t>may</a:t>
            </a:r>
            <a:r>
              <a:rPr sz="1800" spc="-35" dirty="0"/>
              <a:t> </a:t>
            </a:r>
            <a:r>
              <a:rPr sz="1800" dirty="0"/>
              <a:t>produce</a:t>
            </a:r>
            <a:r>
              <a:rPr sz="1800" spc="-40" dirty="0"/>
              <a:t> </a:t>
            </a:r>
            <a:r>
              <a:rPr sz="1800" dirty="0"/>
              <a:t>unstable</a:t>
            </a:r>
            <a:r>
              <a:rPr sz="1800" spc="-40" dirty="0"/>
              <a:t> </a:t>
            </a:r>
            <a:r>
              <a:rPr sz="1800" spc="-10" dirty="0"/>
              <a:t>results.</a:t>
            </a:r>
            <a:endParaRPr sz="1800"/>
          </a:p>
          <a:p>
            <a:pPr marL="355600" marR="862965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1800" dirty="0"/>
              <a:t>Recent</a:t>
            </a:r>
            <a:r>
              <a:rPr sz="1800" spc="-55" dirty="0"/>
              <a:t> </a:t>
            </a:r>
            <a:r>
              <a:rPr sz="1800" dirty="0"/>
              <a:t>studies</a:t>
            </a:r>
            <a:r>
              <a:rPr sz="1800" spc="-40" dirty="0"/>
              <a:t> </a:t>
            </a:r>
            <a:r>
              <a:rPr sz="1800" dirty="0"/>
              <a:t>(2024–2025)</a:t>
            </a:r>
            <a:r>
              <a:rPr sz="1800" spc="-35" dirty="0"/>
              <a:t> </a:t>
            </a:r>
            <a:r>
              <a:rPr sz="1800" dirty="0"/>
              <a:t>focus</a:t>
            </a:r>
            <a:r>
              <a:rPr sz="1800" spc="-50" dirty="0"/>
              <a:t> </a:t>
            </a:r>
            <a:r>
              <a:rPr sz="1800" dirty="0"/>
              <a:t>on</a:t>
            </a:r>
            <a:r>
              <a:rPr sz="1800" spc="-60" dirty="0"/>
              <a:t> </a:t>
            </a:r>
            <a:r>
              <a:rPr sz="1800" dirty="0"/>
              <a:t>machine</a:t>
            </a:r>
            <a:r>
              <a:rPr sz="1800" spc="-45" dirty="0"/>
              <a:t> </a:t>
            </a:r>
            <a:r>
              <a:rPr sz="1800" dirty="0"/>
              <a:t>learning</a:t>
            </a:r>
            <a:r>
              <a:rPr sz="1800" spc="-45" dirty="0"/>
              <a:t> </a:t>
            </a:r>
            <a:r>
              <a:rPr sz="1800" dirty="0"/>
              <a:t>and</a:t>
            </a:r>
            <a:r>
              <a:rPr sz="1800" spc="-35" dirty="0"/>
              <a:t> </a:t>
            </a:r>
            <a:r>
              <a:rPr sz="1800" dirty="0"/>
              <a:t>deep</a:t>
            </a:r>
            <a:r>
              <a:rPr sz="1800" spc="-40" dirty="0"/>
              <a:t> </a:t>
            </a:r>
            <a:r>
              <a:rPr sz="1800" dirty="0"/>
              <a:t>learning</a:t>
            </a:r>
            <a:r>
              <a:rPr sz="1800" spc="-40" dirty="0"/>
              <a:t> </a:t>
            </a:r>
            <a:r>
              <a:rPr sz="1800" dirty="0"/>
              <a:t>techniques</a:t>
            </a:r>
            <a:r>
              <a:rPr sz="1800" spc="-55" dirty="0"/>
              <a:t> </a:t>
            </a:r>
            <a:r>
              <a:rPr sz="1800" dirty="0"/>
              <a:t>for</a:t>
            </a:r>
            <a:r>
              <a:rPr sz="1800" spc="-35" dirty="0"/>
              <a:t> </a:t>
            </a:r>
            <a:r>
              <a:rPr sz="1800" spc="-10" dirty="0"/>
              <a:t>community </a:t>
            </a:r>
            <a:r>
              <a:rPr sz="1800" dirty="0"/>
              <a:t>detection,</a:t>
            </a:r>
            <a:r>
              <a:rPr sz="1800" spc="-40" dirty="0"/>
              <a:t> </a:t>
            </a:r>
            <a:r>
              <a:rPr sz="1800" dirty="0"/>
              <a:t>improving</a:t>
            </a:r>
            <a:r>
              <a:rPr sz="1800" spc="-40" dirty="0"/>
              <a:t> </a:t>
            </a:r>
            <a:r>
              <a:rPr sz="1800" dirty="0"/>
              <a:t>accuracy</a:t>
            </a:r>
            <a:r>
              <a:rPr sz="1800" spc="-25" dirty="0"/>
              <a:t> </a:t>
            </a:r>
            <a:r>
              <a:rPr sz="1800" dirty="0"/>
              <a:t>and</a:t>
            </a:r>
            <a:r>
              <a:rPr sz="1800" spc="-60" dirty="0"/>
              <a:t> </a:t>
            </a:r>
            <a:r>
              <a:rPr sz="1800" dirty="0"/>
              <a:t>handling</a:t>
            </a:r>
            <a:r>
              <a:rPr sz="1800" spc="-40" dirty="0"/>
              <a:t> </a:t>
            </a:r>
            <a:r>
              <a:rPr sz="1800" dirty="0"/>
              <a:t>dynamic</a:t>
            </a:r>
            <a:r>
              <a:rPr sz="1800" spc="-40" dirty="0"/>
              <a:t> </a:t>
            </a:r>
            <a:r>
              <a:rPr sz="1800" dirty="0"/>
              <a:t>and</a:t>
            </a:r>
            <a:r>
              <a:rPr sz="1800" spc="-50" dirty="0"/>
              <a:t> </a:t>
            </a:r>
            <a:r>
              <a:rPr sz="1800" spc="-10" dirty="0"/>
              <a:t>large-</a:t>
            </a:r>
            <a:r>
              <a:rPr sz="1800" dirty="0"/>
              <a:t>scale</a:t>
            </a:r>
            <a:r>
              <a:rPr sz="1800" spc="-30" dirty="0"/>
              <a:t> </a:t>
            </a:r>
            <a:r>
              <a:rPr sz="1800" dirty="0"/>
              <a:t>social</a:t>
            </a:r>
            <a:r>
              <a:rPr sz="1800" spc="-50" dirty="0"/>
              <a:t> </a:t>
            </a:r>
            <a:r>
              <a:rPr sz="1800" spc="-10" dirty="0"/>
              <a:t>networks.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1669795"/>
            <a:ext cx="10892155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1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proposed</a:t>
            </a:r>
            <a:r>
              <a:rPr sz="1600" spc="1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system</a:t>
            </a:r>
            <a:r>
              <a:rPr sz="1600" spc="1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1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designed</a:t>
            </a:r>
            <a:r>
              <a:rPr sz="1600" spc="1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1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efficiently</a:t>
            </a:r>
            <a:r>
              <a:rPr sz="1600" spc="1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identify</a:t>
            </a:r>
            <a:r>
              <a:rPr sz="1600" spc="1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1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cluster</a:t>
            </a:r>
            <a:r>
              <a:rPr sz="1600" spc="1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friend</a:t>
            </a:r>
            <a:r>
              <a:rPr sz="1600" spc="1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circles</a:t>
            </a:r>
            <a:r>
              <a:rPr sz="1600" spc="1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1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online</a:t>
            </a:r>
            <a:r>
              <a:rPr sz="1600" spc="1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social</a:t>
            </a:r>
            <a:r>
              <a:rPr sz="1600" spc="1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networks</a:t>
            </a:r>
            <a:r>
              <a:rPr sz="1600" spc="1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using</a:t>
            </a:r>
            <a:r>
              <a:rPr sz="1600" spc="16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Social </a:t>
            </a:r>
            <a:r>
              <a:rPr sz="1600" dirty="0">
                <a:latin typeface="Segoe UI"/>
                <a:cs typeface="Segoe UI"/>
              </a:rPr>
              <a:t>Network</a:t>
            </a:r>
            <a:r>
              <a:rPr sz="1600" spc="4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Analysis</a:t>
            </a:r>
            <a:r>
              <a:rPr sz="1600" spc="459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(SNA)</a:t>
            </a:r>
            <a:r>
              <a:rPr sz="1600" spc="4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techniques.</a:t>
            </a:r>
            <a:r>
              <a:rPr sz="1600" spc="4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It</a:t>
            </a:r>
            <a:r>
              <a:rPr sz="1600" spc="459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focuses</a:t>
            </a:r>
            <a:r>
              <a:rPr sz="1600" spc="4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on</a:t>
            </a:r>
            <a:r>
              <a:rPr sz="1600" spc="4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modeling</a:t>
            </a:r>
            <a:r>
              <a:rPr sz="1600" spc="4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user</a:t>
            </a:r>
            <a:r>
              <a:rPr sz="1600" spc="459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interactions</a:t>
            </a:r>
            <a:r>
              <a:rPr sz="1600" spc="4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as</a:t>
            </a:r>
            <a:r>
              <a:rPr sz="1600" spc="4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4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graph</a:t>
            </a:r>
            <a:r>
              <a:rPr sz="1600" spc="459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4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applying</a:t>
            </a:r>
            <a:r>
              <a:rPr sz="1600" spc="459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advanced </a:t>
            </a:r>
            <a:r>
              <a:rPr sz="1600" dirty="0">
                <a:latin typeface="Segoe UI"/>
                <a:cs typeface="Segoe UI"/>
              </a:rPr>
              <a:t>community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detection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algorithms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discover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meaningful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groups.</a:t>
            </a:r>
            <a:endParaRPr sz="16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Segoe UI"/>
                <a:cs typeface="Segoe UI"/>
              </a:rPr>
              <a:t>Data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Collection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Module</a:t>
            </a:r>
            <a:endParaRPr sz="16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Segoe UI"/>
                <a:cs typeface="Segoe UI"/>
              </a:rPr>
              <a:t>Collects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user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data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such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profiles,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connections,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interactions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from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social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network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datasets.</a:t>
            </a:r>
            <a:endParaRPr sz="16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Segoe UI"/>
                <a:cs typeface="Segoe UI"/>
              </a:rPr>
              <a:t>Data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Preprocessing</a:t>
            </a:r>
            <a:r>
              <a:rPr sz="1600" b="1" spc="-60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Module</a:t>
            </a:r>
            <a:endParaRPr sz="16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Segoe UI"/>
                <a:cs typeface="Segoe UI"/>
              </a:rPr>
              <a:t>Cleans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filters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data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by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removing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noise,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duplicate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entries,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inactive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users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ensure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accuracy.</a:t>
            </a:r>
            <a:endParaRPr sz="16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1925"/>
              </a:spcBef>
            </a:pPr>
            <a:r>
              <a:rPr sz="1600" b="1" dirty="0">
                <a:latin typeface="Segoe UI"/>
                <a:cs typeface="Segoe UI"/>
              </a:rPr>
              <a:t>Graph</a:t>
            </a:r>
            <a:r>
              <a:rPr sz="1600" b="1" spc="-15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Construction</a:t>
            </a:r>
            <a:r>
              <a:rPr sz="1600" b="1" spc="-20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Module</a:t>
            </a:r>
            <a:endParaRPr sz="1600">
              <a:latin typeface="Segoe UI"/>
              <a:cs typeface="Segoe UI"/>
            </a:endParaRPr>
          </a:p>
          <a:p>
            <a:pPr marL="12700" marR="5715" algn="just">
              <a:lnSpc>
                <a:spcPct val="100000"/>
              </a:lnSpc>
            </a:pPr>
            <a:r>
              <a:rPr sz="1600" dirty="0">
                <a:latin typeface="Segoe UI"/>
                <a:cs typeface="Segoe UI"/>
              </a:rPr>
              <a:t>Converts the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processed data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into a</a:t>
            </a:r>
            <a:r>
              <a:rPr sz="1600" spc="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graph structure</a:t>
            </a:r>
            <a:r>
              <a:rPr sz="1600" spc="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where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nodes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represent users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edges represent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relationships.</a:t>
            </a:r>
            <a:r>
              <a:rPr sz="1600" spc="15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Edge </a:t>
            </a:r>
            <a:r>
              <a:rPr sz="1600" dirty="0">
                <a:latin typeface="Segoe UI"/>
                <a:cs typeface="Segoe UI"/>
              </a:rPr>
              <a:t>weights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may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assigned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based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on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interaction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strength.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3D0FD-E314-0A78-2F57-012F133FCD2B}"/>
              </a:ext>
            </a:extLst>
          </p:cNvPr>
          <p:cNvSpPr txBox="1"/>
          <p:nvPr/>
        </p:nvSpPr>
        <p:spPr>
          <a:xfrm>
            <a:off x="599948" y="1447800"/>
            <a:ext cx="1113485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Collection → Data Preprocessing → Graph Construction → Network Analysis → Community Detection → Visualization → Result Analysis</a:t>
            </a:r>
            <a:endParaRPr lang="en-US" b="1" dirty="0"/>
          </a:p>
          <a:p>
            <a:pPr>
              <a:buNone/>
            </a:pPr>
            <a:r>
              <a:rPr lang="en-US" b="1" dirty="0"/>
              <a:t>Data Collection</a:t>
            </a:r>
          </a:p>
          <a:p>
            <a:pPr>
              <a:buNone/>
            </a:pPr>
            <a:r>
              <a:rPr lang="en-US" dirty="0"/>
              <a:t>Collect user data like friendships, interactions, and profiles from social networks.</a:t>
            </a:r>
          </a:p>
          <a:p>
            <a:r>
              <a:rPr lang="en-US" b="1" dirty="0"/>
              <a:t>Data Preprocessing</a:t>
            </a:r>
          </a:p>
          <a:p>
            <a:r>
              <a:rPr lang="en-US" dirty="0"/>
              <a:t>Clean the data by removing duplicates, missing values, and inactive users.</a:t>
            </a:r>
          </a:p>
          <a:p>
            <a:r>
              <a:rPr lang="en-US" b="1" dirty="0"/>
              <a:t>Graph Construction</a:t>
            </a:r>
          </a:p>
          <a:p>
            <a:r>
              <a:rPr lang="en-US" dirty="0"/>
              <a:t>Convert data into a graph where nodes represent users and edges represent relationships.</a:t>
            </a:r>
          </a:p>
          <a:p>
            <a:r>
              <a:rPr lang="en-US" b="1" dirty="0"/>
              <a:t>Network Analysis</a:t>
            </a:r>
          </a:p>
          <a:p>
            <a:r>
              <a:rPr lang="en-US" dirty="0"/>
              <a:t>Calculate centrality measures to identify important and influential users.</a:t>
            </a:r>
          </a:p>
          <a:p>
            <a:r>
              <a:rPr lang="en-US" b="1" dirty="0"/>
              <a:t>Community Detection</a:t>
            </a:r>
          </a:p>
          <a:p>
            <a:r>
              <a:rPr lang="en-US" dirty="0"/>
              <a:t>Apply algorithms like Louvain and K-Means to identify friend circles.</a:t>
            </a:r>
          </a:p>
          <a:p>
            <a:r>
              <a:rPr lang="en-US" b="1" dirty="0"/>
              <a:t>Visualization</a:t>
            </a:r>
          </a:p>
          <a:p>
            <a:r>
              <a:rPr lang="en-US" dirty="0"/>
              <a:t>Display the social network graph with clusters using different colors.</a:t>
            </a:r>
          </a:p>
          <a:p>
            <a:r>
              <a:rPr lang="en-US" b="1" dirty="0"/>
              <a:t>Result Analysis</a:t>
            </a:r>
          </a:p>
          <a:p>
            <a:r>
              <a:rPr lang="en-US" dirty="0"/>
              <a:t>Evaluate clusters using metrics like modularity and identify key users.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Results</a:t>
            </a:r>
          </a:p>
        </p:txBody>
      </p:sp>
      <p:sp>
        <p:nvSpPr>
          <p:cNvPr id="4" name="AutoShape 1" descr="Friend circle clustering visualization results">
            <a:extLst>
              <a:ext uri="{FF2B5EF4-FFF2-40B4-BE49-F238E27FC236}">
                <a16:creationId xmlns:a16="http://schemas.microsoft.com/office/drawing/2014/main" id="{912D4751-72BB-88A9-8850-24ADA52A5EC7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358775" y="1389063"/>
            <a:ext cx="11285538" cy="547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AutoShape 2" descr="Friend circle clustering visualization results">
            <a:extLst>
              <a:ext uri="{FF2B5EF4-FFF2-40B4-BE49-F238E27FC236}">
                <a16:creationId xmlns:a16="http://schemas.microsoft.com/office/drawing/2014/main" id="{62ACFCBA-A863-01C4-70FE-E664D7502C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775" y="8518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07BD7-8770-5FEA-58B3-F58BE6419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28800"/>
            <a:ext cx="9805986" cy="4435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602" y="1607642"/>
            <a:ext cx="1042733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8255" indent="-28702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300355" algn="l"/>
              </a:tabLst>
            </a:pPr>
            <a:r>
              <a:rPr sz="1600" dirty="0">
                <a:latin typeface="Segoe UI"/>
                <a:cs typeface="Segoe UI"/>
              </a:rPr>
              <a:t>	This</a:t>
            </a:r>
            <a:r>
              <a:rPr sz="1600" spc="9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project</a:t>
            </a:r>
            <a:r>
              <a:rPr sz="1600" spc="10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presented</a:t>
            </a:r>
            <a:r>
              <a:rPr sz="1600" spc="9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</a:t>
            </a:r>
            <a:r>
              <a:rPr sz="1600" spc="9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effective</a:t>
            </a:r>
            <a:r>
              <a:rPr sz="1600" spc="10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approach</a:t>
            </a:r>
            <a:r>
              <a:rPr sz="1600" spc="10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for</a:t>
            </a:r>
            <a:r>
              <a:rPr sz="1600" spc="1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identifying</a:t>
            </a:r>
            <a:r>
              <a:rPr sz="1600" spc="10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friend</a:t>
            </a:r>
            <a:r>
              <a:rPr sz="1600" spc="9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circles</a:t>
            </a:r>
            <a:r>
              <a:rPr sz="1600" spc="1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10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online</a:t>
            </a:r>
            <a:r>
              <a:rPr sz="1600" spc="10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social</a:t>
            </a:r>
            <a:r>
              <a:rPr sz="1600" spc="10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networks</a:t>
            </a:r>
            <a:r>
              <a:rPr sz="1600" spc="1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using</a:t>
            </a:r>
            <a:r>
              <a:rPr sz="1600" spc="10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Social </a:t>
            </a:r>
            <a:r>
              <a:rPr sz="1600" dirty="0">
                <a:latin typeface="Segoe UI"/>
                <a:cs typeface="Segoe UI"/>
              </a:rPr>
              <a:t>Network</a:t>
            </a:r>
            <a:r>
              <a:rPr sz="1600" spc="2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Analysis</a:t>
            </a:r>
            <a:r>
              <a:rPr sz="1600" spc="2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(SNA).</a:t>
            </a:r>
            <a:r>
              <a:rPr sz="1600" spc="2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By</a:t>
            </a:r>
            <a:r>
              <a:rPr sz="1600" spc="28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representing</a:t>
            </a:r>
            <a:r>
              <a:rPr sz="1600" spc="2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users</a:t>
            </a:r>
            <a:r>
              <a:rPr sz="1600" spc="2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as</a:t>
            </a:r>
            <a:r>
              <a:rPr sz="1600" spc="2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nodes</a:t>
            </a:r>
            <a:r>
              <a:rPr sz="1600" spc="2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254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their</a:t>
            </a:r>
            <a:r>
              <a:rPr sz="1600" spc="2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interactions</a:t>
            </a:r>
            <a:r>
              <a:rPr sz="1600" spc="2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as</a:t>
            </a:r>
            <a:r>
              <a:rPr sz="1600" spc="2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edges,</a:t>
            </a:r>
            <a:r>
              <a:rPr sz="1600" spc="2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2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social</a:t>
            </a:r>
            <a:r>
              <a:rPr sz="1600" spc="2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graph</a:t>
            </a:r>
            <a:r>
              <a:rPr sz="1600" spc="26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was </a:t>
            </a:r>
            <a:r>
              <a:rPr sz="1600" dirty="0">
                <a:latin typeface="Segoe UI"/>
                <a:cs typeface="Segoe UI"/>
              </a:rPr>
              <a:t>constructed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analyze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relationships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community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structures.</a:t>
            </a:r>
            <a:endParaRPr sz="1600">
              <a:latin typeface="Segoe UI"/>
              <a:cs typeface="Segoe UI"/>
            </a:endParaRPr>
          </a:p>
          <a:p>
            <a:pPr marL="299085" marR="5715" indent="-287020" algn="just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299085" algn="l"/>
                <a:tab pos="300355" algn="l"/>
              </a:tabLst>
            </a:pPr>
            <a:r>
              <a:rPr sz="1600" dirty="0">
                <a:latin typeface="Segoe UI"/>
                <a:cs typeface="Segoe UI"/>
              </a:rPr>
              <a:t>	The</a:t>
            </a:r>
            <a:r>
              <a:rPr sz="1600" spc="-1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proposed</a:t>
            </a:r>
            <a:r>
              <a:rPr sz="1600" spc="-1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system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applied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community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detection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algorithms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such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as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1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Louvain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method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along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with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clustering </a:t>
            </a:r>
            <a:r>
              <a:rPr sz="1600" dirty="0">
                <a:latin typeface="Segoe UI"/>
                <a:cs typeface="Segoe UI"/>
              </a:rPr>
              <a:t>techniques</a:t>
            </a:r>
            <a:r>
              <a:rPr sz="1600" spc="1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1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identify</a:t>
            </a:r>
            <a:r>
              <a:rPr sz="1600" spc="1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closely</a:t>
            </a:r>
            <a:r>
              <a:rPr sz="1600" spc="1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connected</a:t>
            </a:r>
            <a:r>
              <a:rPr sz="1600" spc="1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user</a:t>
            </a:r>
            <a:r>
              <a:rPr sz="1600" spc="1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groups.</a:t>
            </a:r>
            <a:r>
              <a:rPr sz="1600" spc="1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Network</a:t>
            </a:r>
            <a:r>
              <a:rPr sz="1600" spc="1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metrics</a:t>
            </a:r>
            <a:r>
              <a:rPr sz="1600" spc="1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like</a:t>
            </a:r>
            <a:r>
              <a:rPr sz="1600" spc="1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centrality</a:t>
            </a:r>
            <a:r>
              <a:rPr sz="1600" spc="1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measures</a:t>
            </a:r>
            <a:r>
              <a:rPr sz="1600" spc="1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12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modularity </a:t>
            </a:r>
            <a:r>
              <a:rPr sz="1600" dirty="0">
                <a:latin typeface="Segoe UI"/>
                <a:cs typeface="Segoe UI"/>
              </a:rPr>
              <a:t>were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used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evaluate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strength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relationships</a:t>
            </a:r>
            <a:r>
              <a:rPr sz="1600" spc="-1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detect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influential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users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within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each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cluster.</a:t>
            </a:r>
            <a:endParaRPr sz="1600">
              <a:latin typeface="Segoe UI"/>
              <a:cs typeface="Segoe UI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9085" algn="l"/>
                <a:tab pos="300355" algn="l"/>
              </a:tabLst>
            </a:pPr>
            <a:r>
              <a:rPr sz="1600" dirty="0">
                <a:latin typeface="Segoe UI"/>
                <a:cs typeface="Segoe UI"/>
              </a:rPr>
              <a:t>	The</a:t>
            </a:r>
            <a:r>
              <a:rPr sz="1600" spc="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results</a:t>
            </a:r>
            <a:r>
              <a:rPr sz="1600" spc="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demonstrate</a:t>
            </a:r>
            <a:r>
              <a:rPr sz="1600" spc="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that</a:t>
            </a:r>
            <a:r>
              <a:rPr sz="1600" spc="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system</a:t>
            </a:r>
            <a:r>
              <a:rPr sz="1600" spc="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successfully</a:t>
            </a:r>
            <a:r>
              <a:rPr sz="1600" spc="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identifies</a:t>
            </a:r>
            <a:r>
              <a:rPr sz="1600" spc="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meaningful</a:t>
            </a:r>
            <a:r>
              <a:rPr sz="1600" spc="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friend</a:t>
            </a:r>
            <a:r>
              <a:rPr sz="1600" spc="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circles</a:t>
            </a:r>
            <a:r>
              <a:rPr sz="1600" spc="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with</a:t>
            </a:r>
            <a:r>
              <a:rPr sz="1600" spc="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improved</a:t>
            </a:r>
            <a:r>
              <a:rPr sz="1600" spc="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accuracy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efficiency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compared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traditional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methods.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Visualization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social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graph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further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helped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understanding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structure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network</a:t>
            </a:r>
            <a:r>
              <a:rPr sz="1600" spc="-1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interaction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patterns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among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users.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963" y="1923288"/>
            <a:ext cx="589026" cy="480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963" y="2746248"/>
            <a:ext cx="589026" cy="480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963" y="3569208"/>
            <a:ext cx="589026" cy="4808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963" y="4392167"/>
            <a:ext cx="589026" cy="480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963" y="5763767"/>
            <a:ext cx="589026" cy="480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9948" y="1425702"/>
            <a:ext cx="10288905" cy="468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332740" algn="l"/>
              </a:tabLst>
            </a:pPr>
            <a:r>
              <a:rPr sz="1800" dirty="0">
                <a:latin typeface="Segoe UI"/>
                <a:cs typeface="Segoe UI"/>
              </a:rPr>
              <a:t>M.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E.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J.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Newman,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“Modularity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community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structure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networks,”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Proceedings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National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Academy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Sciences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(PNAS),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vol.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103,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no.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23,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pp.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8577–8582,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2006.</a:t>
            </a:r>
            <a:endParaRPr sz="1800">
              <a:latin typeface="Segoe UI"/>
              <a:cs typeface="Segoe UI"/>
            </a:endParaRPr>
          </a:p>
          <a:p>
            <a:pPr marL="38862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Modularity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community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structure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networks</a:t>
            </a:r>
            <a:endParaRPr sz="1800">
              <a:latin typeface="Segoe UI"/>
              <a:cs typeface="Segoe UI"/>
            </a:endParaRPr>
          </a:p>
          <a:p>
            <a:pPr marL="12700" marR="55244" indent="320040">
              <a:lnSpc>
                <a:spcPct val="100000"/>
              </a:lnSpc>
              <a:buAutoNum type="arabicPlain" startAt="2"/>
              <a:tabLst>
                <a:tab pos="332740" algn="l"/>
              </a:tabLst>
            </a:pPr>
            <a:r>
              <a:rPr sz="1800" dirty="0">
                <a:latin typeface="Segoe UI"/>
                <a:cs typeface="Segoe UI"/>
              </a:rPr>
              <a:t>Vincent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D.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Blondel,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35" dirty="0">
                <a:latin typeface="Segoe UI"/>
                <a:cs typeface="Segoe UI"/>
              </a:rPr>
              <a:t>J.-</a:t>
            </a:r>
            <a:r>
              <a:rPr sz="1800" dirty="0">
                <a:latin typeface="Segoe UI"/>
                <a:cs typeface="Segoe UI"/>
              </a:rPr>
              <a:t>L.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Guillaume,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R.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Lambiotte,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Lefebvre,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“Fast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unfolding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communities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in </a:t>
            </a:r>
            <a:r>
              <a:rPr sz="1800" dirty="0">
                <a:latin typeface="Segoe UI"/>
                <a:cs typeface="Segoe UI"/>
              </a:rPr>
              <a:t>large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networks,”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Journal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Statistical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Mechanics: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Theory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Experiment,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2008.</a:t>
            </a:r>
            <a:endParaRPr sz="1800">
              <a:latin typeface="Segoe UI"/>
              <a:cs typeface="Segoe UI"/>
            </a:endParaRPr>
          </a:p>
          <a:p>
            <a:pPr marL="388620">
              <a:lnSpc>
                <a:spcPct val="100000"/>
              </a:lnSpc>
            </a:pPr>
            <a:r>
              <a:rPr sz="1800" spc="-10" dirty="0">
                <a:latin typeface="Segoe UI"/>
                <a:cs typeface="Segoe UI"/>
              </a:rPr>
              <a:t>https://arxiv.org/abs/0803.0476</a:t>
            </a:r>
            <a:endParaRPr sz="1800">
              <a:latin typeface="Segoe UI"/>
              <a:cs typeface="Segoe UI"/>
            </a:endParaRPr>
          </a:p>
          <a:p>
            <a:pPr marL="332740" indent="-320040">
              <a:lnSpc>
                <a:spcPct val="100000"/>
              </a:lnSpc>
              <a:buAutoNum type="arabicPlain" startAt="3"/>
              <a:tabLst>
                <a:tab pos="332740" algn="l"/>
              </a:tabLst>
            </a:pPr>
            <a:r>
              <a:rPr sz="1800" dirty="0">
                <a:latin typeface="Segoe UI"/>
                <a:cs typeface="Segoe UI"/>
              </a:rPr>
              <a:t>Michelle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Girvan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M.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E.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J.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Newman,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“Community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structure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biological</a:t>
            </a:r>
            <a:r>
              <a:rPr sz="1800" spc="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networks,”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Proceedings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National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Academy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Sciences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(PNAS),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vol.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99,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no.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12,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pp.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7821–7826,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2002.</a:t>
            </a:r>
            <a:endParaRPr sz="1800">
              <a:latin typeface="Segoe UI"/>
              <a:cs typeface="Segoe UI"/>
            </a:endParaRPr>
          </a:p>
          <a:p>
            <a:pPr marL="38862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Community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structure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biological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networks</a:t>
            </a:r>
            <a:endParaRPr sz="1800">
              <a:latin typeface="Segoe UI"/>
              <a:cs typeface="Segoe UI"/>
            </a:endParaRPr>
          </a:p>
          <a:p>
            <a:pPr marL="332740" indent="-320040">
              <a:lnSpc>
                <a:spcPct val="100000"/>
              </a:lnSpc>
              <a:buAutoNum type="arabicPlain" startAt="4"/>
              <a:tabLst>
                <a:tab pos="332740" algn="l"/>
              </a:tabLst>
            </a:pPr>
            <a:r>
              <a:rPr sz="1800" dirty="0">
                <a:latin typeface="Segoe UI"/>
                <a:cs typeface="Segoe UI"/>
              </a:rPr>
              <a:t>Usha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Nandini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Raghavan,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R.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Albert,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S.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Kumara,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“Near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linear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time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algorithm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detect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community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structures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large-</a:t>
            </a:r>
            <a:r>
              <a:rPr sz="1800" dirty="0">
                <a:latin typeface="Segoe UI"/>
                <a:cs typeface="Segoe UI"/>
              </a:rPr>
              <a:t>scale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networks,”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Physical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Review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vol.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76,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no.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3,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2007</a:t>
            </a:r>
            <a:endParaRPr sz="1800">
              <a:latin typeface="Segoe UI"/>
              <a:cs typeface="Segoe UI"/>
            </a:endParaRPr>
          </a:p>
          <a:p>
            <a:pPr marL="388620">
              <a:lnSpc>
                <a:spcPct val="100000"/>
              </a:lnSpc>
            </a:pPr>
            <a:r>
              <a:rPr sz="1800" spc="-10" dirty="0">
                <a:latin typeface="Segoe UI"/>
                <a:cs typeface="Segoe UI"/>
              </a:rPr>
              <a:t>https://arxiv.org/abs/0709.2938</a:t>
            </a:r>
            <a:endParaRPr sz="1800">
              <a:latin typeface="Segoe UI"/>
              <a:cs typeface="Segoe UI"/>
            </a:endParaRPr>
          </a:p>
          <a:p>
            <a:pPr marL="332740" indent="-320040">
              <a:lnSpc>
                <a:spcPct val="100000"/>
              </a:lnSpc>
              <a:buAutoNum type="arabicPlain" startAt="5"/>
              <a:tabLst>
                <a:tab pos="332740" algn="l"/>
              </a:tabLst>
            </a:pPr>
            <a:r>
              <a:rPr sz="1800" dirty="0">
                <a:latin typeface="Segoe UI"/>
                <a:cs typeface="Segoe UI"/>
              </a:rPr>
              <a:t>Recent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Advances:</a:t>
            </a:r>
            <a:endParaRPr sz="1800">
              <a:latin typeface="Segoe UI"/>
              <a:cs typeface="Segoe UI"/>
            </a:endParaRPr>
          </a:p>
          <a:p>
            <a:pPr marL="12700" marR="1524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M.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Nooribakhsh,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M.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Fernández-</a:t>
            </a:r>
            <a:r>
              <a:rPr sz="1800" dirty="0">
                <a:latin typeface="Segoe UI"/>
                <a:cs typeface="Segoe UI"/>
              </a:rPr>
              <a:t>Diego,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30" dirty="0">
                <a:latin typeface="Segoe UI"/>
                <a:cs typeface="Segoe UI"/>
              </a:rPr>
              <a:t>F.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González-</a:t>
            </a:r>
            <a:r>
              <a:rPr sz="1800" spc="-20" dirty="0">
                <a:latin typeface="Segoe UI"/>
                <a:cs typeface="Segoe UI"/>
              </a:rPr>
              <a:t>Ladrón-</a:t>
            </a:r>
            <a:r>
              <a:rPr sz="1800" spc="-10" dirty="0">
                <a:latin typeface="Segoe UI"/>
                <a:cs typeface="Segoe UI"/>
              </a:rPr>
              <a:t>de-</a:t>
            </a:r>
            <a:r>
              <a:rPr sz="1800" dirty="0">
                <a:latin typeface="Segoe UI"/>
                <a:cs typeface="Segoe UI"/>
              </a:rPr>
              <a:t>Guevara,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“Community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detection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in </a:t>
            </a:r>
            <a:r>
              <a:rPr sz="1800" dirty="0">
                <a:latin typeface="Segoe UI"/>
                <a:cs typeface="Segoe UI"/>
              </a:rPr>
              <a:t>social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networks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using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machine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learning: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systematic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mapping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40" dirty="0">
                <a:latin typeface="Segoe UI"/>
                <a:cs typeface="Segoe UI"/>
              </a:rPr>
              <a:t>study,”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Knowledge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Information </a:t>
            </a:r>
            <a:r>
              <a:rPr sz="1800" dirty="0">
                <a:latin typeface="Segoe UI"/>
                <a:cs typeface="Segoe UI"/>
              </a:rPr>
              <a:t>Systems,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vol.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66,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pp.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7205–7259,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2024.</a:t>
            </a:r>
            <a:endParaRPr sz="1800">
              <a:latin typeface="Segoe UI"/>
              <a:cs typeface="Segoe UI"/>
            </a:endParaRPr>
          </a:p>
          <a:p>
            <a:pPr marL="38862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Segoe UI"/>
                <a:cs typeface="Segoe UI"/>
              </a:rPr>
              <a:t>https://link.springer.com/article/10.1007/s13278-025-</a:t>
            </a:r>
            <a:r>
              <a:rPr sz="1800" spc="-20" dirty="0">
                <a:latin typeface="Segoe UI"/>
                <a:cs typeface="Segoe UI"/>
              </a:rPr>
              <a:t>01519-</a:t>
            </a:r>
            <a:r>
              <a:rPr sz="1800" spc="-50" dirty="0">
                <a:latin typeface="Segoe UI"/>
                <a:cs typeface="Segoe UI"/>
              </a:rPr>
              <a:t>7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6309" y="1955800"/>
            <a:ext cx="4974590" cy="3212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1453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MT</vt:lpstr>
      <vt:lpstr>Calibri</vt:lpstr>
      <vt:lpstr>Segoe UI</vt:lpstr>
      <vt:lpstr>Segoe UI Light</vt:lpstr>
      <vt:lpstr>Wingdings</vt:lpstr>
      <vt:lpstr>Office Theme</vt:lpstr>
      <vt:lpstr>MOHAN BABU UNIVERSITY Sree Sainath Nagar, Tirupati – 517102</vt:lpstr>
      <vt:lpstr>ABSTRACT</vt:lpstr>
      <vt:lpstr>Contents</vt:lpstr>
      <vt:lpstr>Introduction</vt:lpstr>
      <vt:lpstr>Review of Literature</vt:lpstr>
      <vt:lpstr>Proposed System</vt:lpstr>
      <vt:lpstr>Execution</vt:lpstr>
      <vt:lpstr>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 Baby Maruthi</dc:creator>
  <cp:lastModifiedBy>veera vijitha ankireddypalli</cp:lastModifiedBy>
  <cp:revision>1</cp:revision>
  <dcterms:created xsi:type="dcterms:W3CDTF">2026-04-22T15:53:49Z</dcterms:created>
  <dcterms:modified xsi:type="dcterms:W3CDTF">2026-04-22T16:11:55Z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2026-04-22T00:00:00Z</vt:filetime>
  </property>
  <property fmtid="{D5CDD505-2E9C-101B-9397-08002B2CF9AE}" pid="5" name="Producer">
    <vt:lpwstr>Microsoft® PowerPoint® for Microsoft 365</vt:lpwstr>
  </property>
</Properties>
</file>